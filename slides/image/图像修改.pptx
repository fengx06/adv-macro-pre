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</p:sldIdLst>
  <p:sldSz cx="9144000" cy="6497638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6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167" d="100"/>
          <a:sy n="167" d="100"/>
        </p:scale>
        <p:origin x="1758" y="144"/>
      </p:cViewPr>
      <p:guideLst>
        <p:guide orient="horz" pos="2046"/>
        <p:guide pos="288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1.xml"/><Relationship Id="rId4" Type="http://schemas.openxmlformats.org/officeDocument/2006/relationships/tags" Target="../tags/tag10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tags" Target="../tags/tag14.xml"/><Relationship Id="rId2" Type="http://schemas.openxmlformats.org/officeDocument/2006/relationships/tags" Target="../tags/tag13.xml"/><Relationship Id="rId1" Type="http://schemas.openxmlformats.org/officeDocument/2006/relationships/tags" Target="../tags/tag12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6.xml"/><Relationship Id="rId4" Type="http://schemas.openxmlformats.org/officeDocument/2006/relationships/tags" Target="../tags/tag15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2" Type="http://schemas.openxmlformats.org/officeDocument/2006/relationships/tags" Target="../tags/tag18.xml"/><Relationship Id="rId1" Type="http://schemas.openxmlformats.org/officeDocument/2006/relationships/tags" Target="../tags/tag17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1.xml"/><Relationship Id="rId4" Type="http://schemas.openxmlformats.org/officeDocument/2006/relationships/tags" Target="../tags/tag20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5.xml"/><Relationship Id="rId3" Type="http://schemas.openxmlformats.org/officeDocument/2006/relationships/tags" Target="../tags/tag30.xml"/><Relationship Id="rId7" Type="http://schemas.openxmlformats.org/officeDocument/2006/relationships/tags" Target="../tags/tag34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9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tags" Target="../tags/tag48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3.xml"/><Relationship Id="rId4" Type="http://schemas.openxmlformats.org/officeDocument/2006/relationships/tags" Target="../tags/tag52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6.xml"/><Relationship Id="rId2" Type="http://schemas.openxmlformats.org/officeDocument/2006/relationships/tags" Target="../tags/tag55.xml"/><Relationship Id="rId1" Type="http://schemas.openxmlformats.org/officeDocument/2006/relationships/tags" Target="../tags/tag54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57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62.xml"/><Relationship Id="rId4" Type="http://schemas.openxmlformats.org/officeDocument/2006/relationships/tags" Target="../tags/tag6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899100" y="866400"/>
            <a:ext cx="7349400" cy="243547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5685"/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2"/>
            </p:custDataLst>
          </p:nvPr>
        </p:nvSpPr>
        <p:spPr>
          <a:xfrm>
            <a:off x="899100" y="3373502"/>
            <a:ext cx="7349400" cy="1395109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275" spc="200"/>
            </a:lvl1pPr>
            <a:lvl2pPr marL="433070" indent="0" algn="ctr">
              <a:buNone/>
              <a:defRPr sz="1895"/>
            </a:lvl2pPr>
            <a:lvl3pPr marL="866140" indent="0" algn="ctr">
              <a:buNone/>
              <a:defRPr sz="1705"/>
            </a:lvl3pPr>
            <a:lvl4pPr marL="1299845" indent="0" algn="ctr">
              <a:buNone/>
              <a:defRPr sz="1515"/>
            </a:lvl4pPr>
            <a:lvl5pPr marL="1732915" indent="0" algn="ctr">
              <a:buNone/>
              <a:defRPr sz="1515"/>
            </a:lvl5pPr>
            <a:lvl6pPr marL="2165985" indent="0" algn="ctr">
              <a:buNone/>
              <a:defRPr sz="1515"/>
            </a:lvl6pPr>
            <a:lvl7pPr marL="2599055" indent="0" algn="ctr">
              <a:buNone/>
              <a:defRPr sz="1515"/>
            </a:lvl7pPr>
            <a:lvl8pPr marL="3032125" indent="0" algn="ctr">
              <a:buNone/>
              <a:defRPr sz="1515"/>
            </a:lvl8pPr>
            <a:lvl9pPr marL="3465830" indent="0" algn="ctr">
              <a:buNone/>
              <a:defRPr sz="1515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00" y="576463"/>
            <a:ext cx="8226900" cy="66856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456300" y="1412164"/>
            <a:ext cx="8226900" cy="4509373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493100" y="3646384"/>
            <a:ext cx="5826600" cy="726548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17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493100" y="4372932"/>
            <a:ext cx="5826600" cy="822057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705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33070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2pPr>
            <a:lvl3pPr marL="866140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3pPr>
            <a:lvl4pPr marL="1299845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4pPr>
            <a:lvl5pPr marL="1732915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5pPr>
            <a:lvl6pPr marL="2165985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6pPr>
            <a:lvl7pPr marL="2599055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7pPr>
            <a:lvl8pPr marL="3032125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8pPr>
            <a:lvl9pPr marL="3465830" indent="0">
              <a:buNone/>
              <a:defRPr sz="151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00" y="576463"/>
            <a:ext cx="8226900" cy="66856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456300" y="1422397"/>
            <a:ext cx="3882600" cy="449914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808700" y="1422397"/>
            <a:ext cx="3882600" cy="449914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00" y="576463"/>
            <a:ext cx="8226900" cy="66856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456300" y="1354176"/>
            <a:ext cx="4006800" cy="361568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89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33070" indent="0">
              <a:buNone/>
              <a:defRPr sz="1895" b="1"/>
            </a:lvl2pPr>
            <a:lvl3pPr marL="866140" indent="0">
              <a:buNone/>
              <a:defRPr sz="1705" b="1"/>
            </a:lvl3pPr>
            <a:lvl4pPr marL="1299845" indent="0">
              <a:buNone/>
              <a:defRPr sz="1515" b="1"/>
            </a:lvl4pPr>
            <a:lvl5pPr marL="1732915" indent="0">
              <a:buNone/>
              <a:defRPr sz="1515" b="1"/>
            </a:lvl5pPr>
            <a:lvl6pPr marL="2165985" indent="0">
              <a:buNone/>
              <a:defRPr sz="1515" b="1"/>
            </a:lvl6pPr>
            <a:lvl7pPr marL="2599055" indent="0">
              <a:buNone/>
              <a:defRPr sz="1515" b="1"/>
            </a:lvl7pPr>
            <a:lvl8pPr marL="3032125" indent="0">
              <a:buNone/>
              <a:defRPr sz="1515" b="1"/>
            </a:lvl8pPr>
            <a:lvl9pPr marL="3465830" indent="0">
              <a:buNone/>
              <a:defRPr sz="1515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456300" y="1756677"/>
            <a:ext cx="4006800" cy="416486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4"/>
            </p:custDataLst>
          </p:nvPr>
        </p:nvSpPr>
        <p:spPr>
          <a:xfrm>
            <a:off x="4676813" y="1347097"/>
            <a:ext cx="4006800" cy="361568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895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33070" indent="0">
              <a:buNone/>
              <a:defRPr sz="1895" b="1"/>
            </a:lvl2pPr>
            <a:lvl3pPr marL="866140" indent="0">
              <a:buNone/>
              <a:defRPr sz="1705" b="1"/>
            </a:lvl3pPr>
            <a:lvl4pPr marL="1299845" indent="0">
              <a:buNone/>
              <a:defRPr sz="1515" b="1"/>
            </a:lvl4pPr>
            <a:lvl5pPr marL="1732915" indent="0">
              <a:buNone/>
              <a:defRPr sz="1515" b="1"/>
            </a:lvl5pPr>
            <a:lvl6pPr marL="2165985" indent="0">
              <a:buNone/>
              <a:defRPr sz="1515" b="1"/>
            </a:lvl6pPr>
            <a:lvl7pPr marL="2599055" indent="0">
              <a:buNone/>
              <a:defRPr sz="1515" b="1"/>
            </a:lvl7pPr>
            <a:lvl8pPr marL="3032125" indent="0">
              <a:buNone/>
              <a:defRPr sz="1515" b="1"/>
            </a:lvl8pPr>
            <a:lvl9pPr marL="3465830" indent="0">
              <a:buNone/>
              <a:defRPr sz="1515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5"/>
            </p:custDataLst>
          </p:nvPr>
        </p:nvSpPr>
        <p:spPr>
          <a:xfrm>
            <a:off x="4676813" y="1756677"/>
            <a:ext cx="4006800" cy="416486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6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7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8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456300" y="576463"/>
            <a:ext cx="8226900" cy="668561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456300" y="1473562"/>
            <a:ext cx="3924808" cy="436611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515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4762800" y="1473562"/>
            <a:ext cx="3920400" cy="436611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515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2026/06/08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7676100" y="866400"/>
            <a:ext cx="783000" cy="4765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655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685800" y="866400"/>
            <a:ext cx="6876900" cy="4765200"/>
          </a:xfrm>
        </p:spPr>
        <p:txBody>
          <a:bodyPr vert="eaVert" lIns="46800" tIns="46800" rIns="46800" bIns="46800"/>
          <a:lstStyle>
            <a:lvl1pPr marL="216535" indent="-216535">
              <a:spcAft>
                <a:spcPts val="1000"/>
              </a:spcAft>
              <a:defRPr spc="300"/>
            </a:lvl1pPr>
            <a:lvl2pPr marL="649605" indent="-216535">
              <a:defRPr spc="300"/>
            </a:lvl2pPr>
            <a:lvl3pPr marL="1083310" indent="-216535">
              <a:defRPr spc="300"/>
            </a:lvl3pPr>
            <a:lvl4pPr marL="1516380" indent="-216535">
              <a:defRPr spc="300"/>
            </a:lvl4pPr>
            <a:lvl5pPr marL="1949450" indent="-216535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4"/>
            </p:custDataLst>
          </p:nvPr>
        </p:nvSpPr>
        <p:spPr>
          <a:xfrm>
            <a:off x="456300" y="733370"/>
            <a:ext cx="8229600" cy="5194989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899100" y="2353606"/>
            <a:ext cx="7349400" cy="96532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5685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5"/>
            </p:custDataLst>
          </p:nvPr>
        </p:nvSpPr>
        <p:spPr>
          <a:xfrm>
            <a:off x="899100" y="3373502"/>
            <a:ext cx="7349400" cy="446844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275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456300" y="576463"/>
            <a:ext cx="8226900" cy="668561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456300" y="1412164"/>
            <a:ext cx="8226900" cy="4509373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459000" y="5982935"/>
            <a:ext cx="2025000" cy="300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9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2026/06/08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3087000" y="5982935"/>
            <a:ext cx="2970000" cy="300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9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6658200" y="5982935"/>
            <a:ext cx="2025000" cy="3001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9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866140" rtl="0" eaLnBrk="1" fontAlgn="auto" latinLnBrk="0" hangingPunct="1">
        <a:lnSpc>
          <a:spcPct val="100000"/>
        </a:lnSpc>
        <a:spcBef>
          <a:spcPct val="0"/>
        </a:spcBef>
        <a:buNone/>
        <a:defRPr sz="341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16535" indent="-216535" algn="l" defTabSz="86614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70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49605" indent="-216535" algn="l" defTabSz="86614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525270" algn="l"/>
          <a:tab pos="1525270" algn="l"/>
          <a:tab pos="1525270" algn="l"/>
          <a:tab pos="1525270" algn="l"/>
        </a:tabLst>
        <a:defRPr sz="151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083310" indent="-216535" algn="l" defTabSz="86614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51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516380" indent="-216535" algn="l" defTabSz="86614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949450" indent="-216535" algn="l" defTabSz="86614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325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382520" indent="-216535" algn="l" defTabSz="866140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5" kern="1200">
          <a:solidFill>
            <a:schemeClr val="tx1"/>
          </a:solidFill>
          <a:latin typeface="+mn-lt"/>
          <a:ea typeface="+mn-ea"/>
          <a:cs typeface="+mn-cs"/>
        </a:defRPr>
      </a:lvl6pPr>
      <a:lvl7pPr marL="2815590" indent="-216535" algn="l" defTabSz="866140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5" kern="1200">
          <a:solidFill>
            <a:schemeClr val="tx1"/>
          </a:solidFill>
          <a:latin typeface="+mn-lt"/>
          <a:ea typeface="+mn-ea"/>
          <a:cs typeface="+mn-cs"/>
        </a:defRPr>
      </a:lvl7pPr>
      <a:lvl8pPr marL="3249295" indent="-216535" algn="l" defTabSz="866140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5" kern="1200">
          <a:solidFill>
            <a:schemeClr val="tx1"/>
          </a:solidFill>
          <a:latin typeface="+mn-lt"/>
          <a:ea typeface="+mn-ea"/>
          <a:cs typeface="+mn-cs"/>
        </a:defRPr>
      </a:lvl8pPr>
      <a:lvl9pPr marL="3682365" indent="-216535" algn="l" defTabSz="866140" rtl="0" eaLnBrk="1" latinLnBrk="0" hangingPunct="1">
        <a:lnSpc>
          <a:spcPct val="90000"/>
        </a:lnSpc>
        <a:spcBef>
          <a:spcPct val="95000"/>
        </a:spcBef>
        <a:buFont typeface="Arial" panose="020B0604020202020204" pitchFamily="34" charset="0"/>
        <a:buChar char="•"/>
        <a:defRPr sz="17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1pPr>
      <a:lvl2pPr marL="433070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2pPr>
      <a:lvl3pPr marL="866140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3pPr>
      <a:lvl4pPr marL="1299845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4pPr>
      <a:lvl5pPr marL="1732915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5pPr>
      <a:lvl6pPr marL="2165985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6pPr>
      <a:lvl7pPr marL="2599055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7pPr>
      <a:lvl8pPr marL="3032125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8pPr>
      <a:lvl9pPr marL="3465830" algn="l" defTabSz="866140" rtl="0" eaLnBrk="1" latinLnBrk="0" hangingPunct="1">
        <a:defRPr sz="17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3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image" Target="../media/image2.jpeg"/><Relationship Id="rId7" Type="http://schemas.openxmlformats.org/officeDocument/2006/relationships/image" Target="../media/image4.wmf"/><Relationship Id="rId2" Type="http://schemas.openxmlformats.org/officeDocument/2006/relationships/slideLayout" Target="../slideLayouts/slideLayout1.xml"/><Relationship Id="rId1" Type="http://schemas.openxmlformats.org/officeDocument/2006/relationships/tags" Target="../tags/tag64.xml"/><Relationship Id="rId6" Type="http://schemas.openxmlformats.org/officeDocument/2006/relationships/oleObject" Target="../embeddings/oleObject2.bin"/><Relationship Id="rId5" Type="http://schemas.openxmlformats.org/officeDocument/2006/relationships/image" Target="../media/image3.wmf"/><Relationship Id="rId4" Type="http://schemas.openxmlformats.org/officeDocument/2006/relationships/oleObject" Target="../embeddings/oleObject1.bin"/><Relationship Id="rId9" Type="http://schemas.openxmlformats.org/officeDocument/2006/relationships/image" Target="../media/image5.w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 descr="fig4_productivity_measu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635" cy="649795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/>
              <p:cNvSpPr txBox="1"/>
              <p:nvPr/>
            </p:nvSpPr>
            <p:spPr>
              <a:xfrm>
                <a:off x="5573715" y="3513372"/>
                <a:ext cx="2261235" cy="34290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15" i="1">
                          <a:latin typeface="Cambria Math" panose="02040503050406030204" charset="0"/>
                          <a:ea typeface="Microsoft JhengHei" panose="020B0604030504040204" charset="-120"/>
                          <a:cs typeface="Cambria Math" panose="02040503050406030204" charset="0"/>
                        </a:rPr>
                        <m:t>𝑦</m:t>
                      </m:r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ea typeface="Microsoft JhengHei" panose="020B0604030504040204" charset="-12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ea typeface="Microsoft JhengHei" panose="020B0604030504040204" charset="-12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515" i="1">
                              <a:latin typeface="Cambria Math" panose="02040503050406030204" charset="0"/>
                              <a:ea typeface="Microsoft JhengHei" panose="020B0604030504040204" charset="-120"/>
                              <a:cs typeface="Cambria Math" panose="02040503050406030204" charset="0"/>
                            </a:rPr>
                            <m:t>𝑝</m:t>
                          </m:r>
                        </m:sub>
                      </m:sSub>
                      <m:r>
                        <a:rPr lang="en-US" altLang="zh-CN" sz="1515" i="1">
                          <a:latin typeface="Cambria Math" panose="02040503050406030204" charset="0"/>
                          <a:ea typeface="Microsoft JhengHei" panose="020B0604030504040204" charset="-120"/>
                          <a:cs typeface="Cambria Math" panose="02040503050406030204" charset="0"/>
                        </a:rPr>
                        <m:t>𝑙</m:t>
                      </m:r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 → </m:t>
                      </m:r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ea typeface="Microsoft JhengHei" panose="020B0604030504040204" charset="-12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𝛾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ea typeface="Microsoft JhengHei" panose="020B0604030504040204" charset="-12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icrosoft JhengHei" panose="020B0604030504040204" charset="-12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icrosoft JhengHei" panose="020B0604030504040204" charset="-120"/>
                                  <a:cs typeface="Cambria Math" panose="02040503050406030204" charset="0"/>
                                </a:rPr>
                                <m:t>𝑝</m:t>
                              </m:r>
                            </m:sub>
                          </m:sSub>
                        </m:sub>
                      </m:sSub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=1.24% </m:t>
                      </m:r>
                    </m:oMath>
                  </m:oMathPara>
                </a14:m>
                <a:endParaRPr lang="zh-CN" altLang="en-US" sz="1515">
                  <a:latin typeface="Microsoft JhengHei" panose="020B0604030504040204" charset="-120"/>
                  <a:ea typeface="Microsoft JhengHei" panose="020B0604030504040204" charset="-120"/>
                  <a:cs typeface="Microsoft JhengHei" panose="020B0604030504040204" charset="-120"/>
                </a:endParaRPr>
              </a:p>
            </p:txBody>
          </p:sp>
        </mc:Choice>
        <mc:Fallback xmlns="">
          <p:sp>
            <p:nvSpPr>
              <p:cNvPr id="7" name="文本框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3715" y="3513372"/>
                <a:ext cx="2261235" cy="342900"/>
              </a:xfrm>
              <a:prstGeom prst="rect">
                <a:avLst/>
              </a:prstGeom>
              <a:blipFill rotWithShape="1">
                <a:blip r:embed="rId4"/>
                <a:stretch>
                  <a:fillRect l="-14" t="-161" r="14" b="1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本框 7"/>
              <p:cNvSpPr txBox="1"/>
              <p:nvPr/>
            </p:nvSpPr>
            <p:spPr>
              <a:xfrm>
                <a:off x="2064193" y="4720320"/>
                <a:ext cx="2700020" cy="34417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15" i="1">
                          <a:latin typeface="Cambria Math" panose="02040503050406030204" charset="0"/>
                          <a:cs typeface="Cambria Math" panose="02040503050406030204" charset="0"/>
                        </a:rPr>
                        <m:t>𝑦</m:t>
                      </m:r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𝑘</m:t>
                          </m:r>
                        </m:e>
                        <m:sup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sup>
                      </m:sSup>
                      <m:sSup>
                        <m:sSup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</m:t>
                          </m:r>
                        </m:e>
                        <m:sup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1</m:t>
                          </m:r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𝛼</m:t>
                          </m:r>
                        </m:sup>
                      </m:sSup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 →</m:t>
                      </m:r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𝛾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1</m:t>
                              </m:r>
                            </m:sub>
                          </m:sSub>
                        </m:sub>
                      </m:sSub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=0.71% </m:t>
                      </m:r>
                    </m:oMath>
                  </m:oMathPara>
                </a14:m>
                <a:endParaRPr lang="zh-CN" altLang="en-US" sz="1515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mc:Choice>
        <mc:Fallback xmlns="">
          <p:sp>
            <p:nvSpPr>
              <p:cNvPr id="8" name="文本框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64193" y="4720320"/>
                <a:ext cx="2700020" cy="344170"/>
              </a:xfrm>
              <a:prstGeom prst="rect">
                <a:avLst/>
              </a:prstGeom>
              <a:blipFill rotWithShape="1">
                <a:blip r:embed="rId5"/>
                <a:stretch>
                  <a:fillRect l="-16" t="-106" r="16" b="1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/>
              <p:cNvSpPr txBox="1"/>
              <p:nvPr/>
            </p:nvSpPr>
            <p:spPr>
              <a:xfrm>
                <a:off x="3959443" y="1983946"/>
                <a:ext cx="3330575" cy="356870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515" i="1">
                          <a:latin typeface="Cambria Math" panose="02040503050406030204" charset="0"/>
                          <a:cs typeface="Cambria Math" panose="02040503050406030204" charset="0"/>
                        </a:rPr>
                        <m:t>𝑦</m:t>
                      </m:r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</m:t>
                      </m:r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e>
                        <m:sub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2</m:t>
                          </m:r>
                        </m:sub>
                      </m:sSub>
                      <m:sSubSup>
                        <m:sSubSupPr>
                          <m:ctrlPr>
                            <a:rPr lang="en-US" altLang="zh-CN" sz="1515" i="1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𝑒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sub>
                          </m:sSub>
                        </m:sup>
                      </m:sSubSup>
                      <m:sSubSup>
                        <m:sSubSupPr>
                          <m:ctrlPr>
                            <a:rPr lang="en-US" altLang="zh-CN" sz="1515" i="1">
                              <a:latin typeface="Cambria Math" panose="02040503050406030204" pitchFamily="18" charset="0"/>
                              <a:ea typeface="MS Mincho" charset="0"/>
                              <a:cs typeface="Cambria Math" panose="02040503050406030204" charset="0"/>
                            </a:rPr>
                          </m:ctrlPr>
                        </m:sSubSup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𝑠</m:t>
                          </m:r>
                        </m:sub>
                        <m:sup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ea typeface="MS Mincho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𝑠</m:t>
                              </m:r>
                            </m:sub>
                          </m:sSub>
                        </m:sup>
                      </m:sSubSup>
                      <m:sSup>
                        <m:sSup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p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</m:t>
                          </m:r>
                        </m:e>
                        <m:sup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1−</m:t>
                          </m:r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𝑒</m:t>
                              </m:r>
                            </m:sub>
                          </m:sSub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𝑠</m:t>
                              </m:r>
                            </m:sub>
                          </m:sSub>
                        </m:sup>
                      </m:sSup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 →</m:t>
                      </m:r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𝛾</m:t>
                          </m:r>
                        </m:e>
                        <m:sub>
                          <m:sSub>
                            <m:sSubPr>
                              <m:ctrlPr>
                                <a:rPr lang="en-US" altLang="zh-CN" sz="1515" i="1">
                                  <a:latin typeface="Cambria Math" panose="02040503050406030204" pitchFamily="18" charset="0"/>
                                  <a:cs typeface="Cambria Math" panose="02040503050406030204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515" i="1">
                                  <a:latin typeface="Cambria Math" panose="02040503050406030204" charset="0"/>
                                  <a:cs typeface="Cambria Math" panose="02040503050406030204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altLang="zh-CN" sz="1515" i="1">
                                  <a:latin typeface="Cambria Math" panose="02040503050406030204" charset="0"/>
                                  <a:ea typeface="MS Mincho" charset="0"/>
                                  <a:cs typeface="Cambria Math" panose="02040503050406030204" charset="0"/>
                                </a:rPr>
                                <m:t>2</m:t>
                              </m:r>
                            </m:sub>
                          </m:sSub>
                        </m:sub>
                      </m:sSub>
                      <m:r>
                        <a:rPr lang="en-US" altLang="zh-CN" sz="1515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=0.68% </m:t>
                      </m:r>
                    </m:oMath>
                  </m:oMathPara>
                </a14:m>
                <a:endParaRPr lang="zh-CN" altLang="en-US" sz="1515">
                  <a:latin typeface="Times New Roman" panose="02020603050405020304" charset="0"/>
                  <a:cs typeface="Times New Roman" panose="02020603050405020304" charset="0"/>
                </a:endParaRPr>
              </a:p>
            </p:txBody>
          </p:sp>
        </mc:Choice>
        <mc:Fallback xmlns="">
          <p:sp>
            <p:nvSpPr>
              <p:cNvPr id="9" name="文本框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9443" y="1983946"/>
                <a:ext cx="3330575" cy="356870"/>
              </a:xfrm>
              <a:prstGeom prst="rect">
                <a:avLst/>
              </a:prstGeom>
              <a:blipFill rotWithShape="1">
                <a:blip r:embed="rId6"/>
                <a:stretch>
                  <a:fillRect l="-7" t="-58" r="7" b="5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文本框 9"/>
              <p:cNvSpPr txBox="1"/>
              <p:nvPr/>
            </p:nvSpPr>
            <p:spPr>
              <a:xfrm>
                <a:off x="1767290" y="1215314"/>
                <a:ext cx="1156970" cy="324485"/>
              </a:xfrm>
              <a:prstGeom prst="rect">
                <a:avLst/>
              </a:prstGeom>
              <a:noFill/>
            </p:spPr>
            <p:txBody>
              <a:bodyPr wrap="none" rtlCol="0" anchor="t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515" i="1">
                              <a:latin typeface="Cambria Math" panose="02040503050406030204" pitchFamily="18" charset="0"/>
                              <a:cs typeface="Cambria Math" panose="02040503050406030204" charset="0"/>
                            </a:rPr>
                          </m:ctrlPr>
                        </m:sSubPr>
                        <m:e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𝛾</m:t>
                          </m:r>
                        </m:e>
                        <m:sub>
                          <m:r>
                            <a:rPr lang="en-US" altLang="zh-CN" sz="1515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𝑧</m:t>
                          </m:r>
                        </m:sub>
                      </m:sSub>
                      <m:r>
                        <a:rPr lang="en-US" altLang="zh-CN" sz="1515" i="1">
                          <a:latin typeface="Cambria Math" panose="02040503050406030204" charset="0"/>
                          <a:cs typeface="Cambria Math" panose="02040503050406030204" charset="0"/>
                        </a:rPr>
                        <m:t>=0.39%</m:t>
                      </m:r>
                    </m:oMath>
                  </m:oMathPara>
                </a14:m>
                <a:endParaRPr lang="zh-CN" altLang="en-US" sz="1515"/>
              </a:p>
            </p:txBody>
          </p:sp>
        </mc:Choice>
        <mc:Fallback xmlns="">
          <p:sp>
            <p:nvSpPr>
              <p:cNvPr id="10" name="文本框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67290" y="1215314"/>
                <a:ext cx="1156970" cy="324485"/>
              </a:xfrm>
              <a:prstGeom prst="rect">
                <a:avLst/>
              </a:prstGeom>
              <a:blipFill rotWithShape="1">
                <a:blip r:embed="rId7"/>
                <a:stretch>
                  <a:fillRect l="-7" t="-172" r="7" b="1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 descr="fig6_measuring_neutral_tech_chang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7310"/>
            <a:ext cx="9144000" cy="6363335"/>
          </a:xfrm>
          <a:prstGeom prst="rect">
            <a:avLst/>
          </a:prstGeom>
        </p:spPr>
      </p:pic>
      <p:sp>
        <p:nvSpPr>
          <p:cNvPr id="3" name="文本框 2"/>
          <p:cNvSpPr txBox="1"/>
          <p:nvPr/>
        </p:nvSpPr>
        <p:spPr>
          <a:xfrm>
            <a:off x="3566096" y="3014282"/>
            <a:ext cx="309880" cy="368300"/>
          </a:xfrm>
          <a:prstGeom prst="rect">
            <a:avLst/>
          </a:prstGeom>
          <a:noFill/>
        </p:spPr>
        <p:txBody>
          <a:bodyPr wrap="none" rtlCol="0" anchor="t">
            <a:spAutoFit/>
          </a:bodyPr>
          <a:lstStyle/>
          <a:p>
            <a:pPr algn="l"/>
            <a:endParaRPr lang="zh-CN" altLang="en-US"/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0EB68CB-5D05-3533-9B34-062F7F2B29BA}"/>
              </a:ext>
            </a:extLst>
          </p:cNvPr>
          <p:cNvCxnSpPr>
            <a:cxnSpLocks/>
          </p:cNvCxnSpPr>
          <p:nvPr/>
        </p:nvCxnSpPr>
        <p:spPr>
          <a:xfrm flipV="1">
            <a:off x="2282221" y="3536688"/>
            <a:ext cx="846387" cy="103531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接箭头连接符 7">
            <a:extLst>
              <a:ext uri="{FF2B5EF4-FFF2-40B4-BE49-F238E27FC236}">
                <a16:creationId xmlns:a16="http://schemas.microsoft.com/office/drawing/2014/main" id="{D13ACD08-AD6C-7AB8-3E5E-2230A6333FA9}"/>
              </a:ext>
            </a:extLst>
          </p:cNvPr>
          <p:cNvCxnSpPr>
            <a:cxnSpLocks/>
          </p:cNvCxnSpPr>
          <p:nvPr/>
        </p:nvCxnSpPr>
        <p:spPr>
          <a:xfrm flipV="1">
            <a:off x="3128608" y="3209925"/>
            <a:ext cx="257530" cy="326763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接箭头连接符 9">
            <a:extLst>
              <a:ext uri="{FF2B5EF4-FFF2-40B4-BE49-F238E27FC236}">
                <a16:creationId xmlns:a16="http://schemas.microsoft.com/office/drawing/2014/main" id="{0E9E19A1-9987-B960-2956-DE0D48ADCD49}"/>
              </a:ext>
            </a:extLst>
          </p:cNvPr>
          <p:cNvCxnSpPr>
            <a:cxnSpLocks/>
          </p:cNvCxnSpPr>
          <p:nvPr/>
        </p:nvCxnSpPr>
        <p:spPr>
          <a:xfrm flipV="1">
            <a:off x="1949502" y="3373306"/>
            <a:ext cx="827988" cy="1022985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对象 10">
            <a:extLst>
              <a:ext uri="{FF2B5EF4-FFF2-40B4-BE49-F238E27FC236}">
                <a16:creationId xmlns:a16="http://schemas.microsoft.com/office/drawing/2014/main" id="{B1EEA330-2F46-9B5D-6850-6EAA71186407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20140459"/>
              </p:ext>
            </p:extLst>
          </p:nvPr>
        </p:nvGraphicFramePr>
        <p:xfrm>
          <a:off x="4863465" y="2645982"/>
          <a:ext cx="221969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4" imgW="1426320" imgH="237240" progId="Equation.AxMath">
                  <p:embed/>
                </p:oleObj>
              </mc:Choice>
              <mc:Fallback>
                <p:oleObj name="AxMath" r:id="rId4" imgW="1426320" imgH="23724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863465" y="2645982"/>
                        <a:ext cx="221969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2BD9ED45-10B3-B313-5E37-7850321F0CBA}"/>
              </a:ext>
            </a:extLst>
          </p:cNvPr>
          <p:cNvCxnSpPr>
            <a:cxnSpLocks/>
          </p:cNvCxnSpPr>
          <p:nvPr/>
        </p:nvCxnSpPr>
        <p:spPr>
          <a:xfrm flipV="1">
            <a:off x="3644952" y="3536688"/>
            <a:ext cx="304113" cy="375733"/>
          </a:xfrm>
          <a:prstGeom prst="straightConnector1">
            <a:avLst/>
          </a:prstGeom>
          <a:ln w="19050">
            <a:solidFill>
              <a:schemeClr val="accent6">
                <a:lumMod val="50000"/>
              </a:schemeClr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6" name="对象 15">
            <a:extLst>
              <a:ext uri="{FF2B5EF4-FFF2-40B4-BE49-F238E27FC236}">
                <a16:creationId xmlns:a16="http://schemas.microsoft.com/office/drawing/2014/main" id="{F18D381B-3A7E-ADD8-C719-9A08EFC5F9E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1584325"/>
              </p:ext>
            </p:extLst>
          </p:nvPr>
        </p:nvGraphicFramePr>
        <p:xfrm>
          <a:off x="1672287" y="3724554"/>
          <a:ext cx="554430" cy="29918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6" imgW="421200" imgH="226800" progId="Equation.AxMath">
                  <p:embed/>
                </p:oleObj>
              </mc:Choice>
              <mc:Fallback>
                <p:oleObj name="AxMath" r:id="rId6" imgW="42120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672287" y="3724554"/>
                        <a:ext cx="554430" cy="29918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7" name="对象 16">
            <a:extLst>
              <a:ext uri="{FF2B5EF4-FFF2-40B4-BE49-F238E27FC236}">
                <a16:creationId xmlns:a16="http://schemas.microsoft.com/office/drawing/2014/main" id="{B1F21A32-0010-17A7-D84A-9EDD8A01DA2A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3447510"/>
              </p:ext>
            </p:extLst>
          </p:nvPr>
        </p:nvGraphicFramePr>
        <p:xfrm>
          <a:off x="3309590" y="3423054"/>
          <a:ext cx="513011" cy="26774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AxMath" r:id="rId8" imgW="435240" imgH="226800" progId="Equation.AxMath">
                  <p:embed/>
                </p:oleObj>
              </mc:Choice>
              <mc:Fallback>
                <p:oleObj name="AxMath" r:id="rId8" imgW="4352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309590" y="3423054"/>
                        <a:ext cx="513011" cy="26774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" name="文本框 17">
            <a:extLst>
              <a:ext uri="{FF2B5EF4-FFF2-40B4-BE49-F238E27FC236}">
                <a16:creationId xmlns:a16="http://schemas.microsoft.com/office/drawing/2014/main" id="{60C461D1-D6D1-4177-E77B-AC33F06911D5}"/>
              </a:ext>
            </a:extLst>
          </p:cNvPr>
          <p:cNvSpPr txBox="1"/>
          <p:nvPr/>
        </p:nvSpPr>
        <p:spPr>
          <a:xfrm>
            <a:off x="2470714" y="2005336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华文中宋" panose="02010600040101010101" pitchFamily="2" charset="-122"/>
                <a:ea typeface="华文中宋" panose="02010600040101010101" pitchFamily="2" charset="-122"/>
              </a:rPr>
              <a:t>高估部分</a:t>
            </a:r>
          </a:p>
        </p:txBody>
      </p: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584C8336-66B5-A353-CAE1-627F07783148}"/>
              </a:ext>
            </a:extLst>
          </p:cNvPr>
          <p:cNvCxnSpPr>
            <a:cxnSpLocks/>
            <a:stCxn id="18" idx="2"/>
          </p:cNvCxnSpPr>
          <p:nvPr/>
        </p:nvCxnSpPr>
        <p:spPr>
          <a:xfrm>
            <a:off x="2973416" y="2343890"/>
            <a:ext cx="155192" cy="94795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SLIDE_ID" val="custom20205081_1"/>
  <p:tag name="KSO_WM_TEMPLATE_SUBCATEGORY" val="19"/>
  <p:tag name="KSO_WM_TEMPLATE_MASTER_TYPE" val="0"/>
  <p:tag name="KSO_WM_TEMPLATE_COLOR_TYPE" val="1"/>
  <p:tag name="KSO_WM_SLIDE_TYPE" val="title"/>
  <p:tag name="KSO_WM_SLIDE_SUBTYPE" val="defaultBlank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205081"/>
  <p:tag name="KSO_WM_SLIDE_LAYOUT" val="a_b"/>
  <p:tag name="KSO_WM_SLIDE_LAYOUT_CNT" val="1_1"/>
  <p:tag name="KSO_WM_UNIT_SHOW_EDIT_AREA_INDICATION" val="1"/>
  <p:tag name="KSO_WM_TEMPLATE_THUMBS_INDEX" val="1、4、7、12、13、14、15、16、17、18、20、24、25、28、33、36、40、43、44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36</Words>
  <Application>Microsoft Office PowerPoint</Application>
  <PresentationFormat>自定义</PresentationFormat>
  <Paragraphs>5</Paragraphs>
  <Slides>2</Slides>
  <Notes>0</Notes>
  <HiddenSlides>0</HiddenSlides>
  <MMClips>0</MMClips>
  <ScaleCrop>false</ScaleCrop>
  <HeadingPairs>
    <vt:vector size="8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10" baseType="lpstr">
      <vt:lpstr>Microsoft JhengHei</vt:lpstr>
      <vt:lpstr>华文中宋</vt:lpstr>
      <vt:lpstr>Arial</vt:lpstr>
      <vt:lpstr>Cambria Math</vt:lpstr>
      <vt:lpstr>Times New Roman</vt:lpstr>
      <vt:lpstr>Wingdings</vt:lpstr>
      <vt:lpstr>WPS</vt:lpstr>
      <vt:lpstr>Equation.AxMath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Xiaoxin Feng</dc:creator>
  <cp:lastModifiedBy>Xiaoxin Feng</cp:lastModifiedBy>
  <cp:revision>165</cp:revision>
  <dcterms:created xsi:type="dcterms:W3CDTF">2019-06-19T02:08:00Z</dcterms:created>
  <dcterms:modified xsi:type="dcterms:W3CDTF">2026-06-08T05:59:51Z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2052-12.1.0.20784</vt:lpwstr>
  </property>
  <property fmtid="{D5CDD505-2E9C-101B-9397-08002B2CF9AE}" pid="3" name="ICV">
    <vt:lpwstr>5583B77D83D747FF9CFDCE119F71FD76_13</vt:lpwstr>
  </property>
</Properties>
</file>