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49795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046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866400"/>
            <a:ext cx="7349400" cy="243547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68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373502"/>
            <a:ext cx="7349400" cy="139510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275" spc="200"/>
            </a:lvl1pPr>
            <a:lvl2pPr marL="433070" indent="0" algn="ctr">
              <a:buNone/>
              <a:defRPr sz="1895"/>
            </a:lvl2pPr>
            <a:lvl3pPr marL="866140" indent="0" algn="ctr">
              <a:buNone/>
              <a:defRPr sz="1705"/>
            </a:lvl3pPr>
            <a:lvl4pPr marL="1299845" indent="0" algn="ctr">
              <a:buNone/>
              <a:defRPr sz="1515"/>
            </a:lvl4pPr>
            <a:lvl5pPr marL="1732915" indent="0" algn="ctr">
              <a:buNone/>
              <a:defRPr sz="1515"/>
            </a:lvl5pPr>
            <a:lvl6pPr marL="2165985" indent="0" algn="ctr">
              <a:buNone/>
              <a:defRPr sz="1515"/>
            </a:lvl6pPr>
            <a:lvl7pPr marL="2599055" indent="0" algn="ctr">
              <a:buNone/>
              <a:defRPr sz="1515"/>
            </a:lvl7pPr>
            <a:lvl8pPr marL="3032125" indent="0" algn="ctr">
              <a:buNone/>
              <a:defRPr sz="1515"/>
            </a:lvl8pPr>
            <a:lvl9pPr marL="3465830" indent="0" algn="ctr">
              <a:buNone/>
              <a:defRPr sz="151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76463"/>
            <a:ext cx="8226900" cy="6685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12164"/>
            <a:ext cx="8226900" cy="450937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646384"/>
            <a:ext cx="5826600" cy="726548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17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372932"/>
            <a:ext cx="5826600" cy="82205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70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33070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2pPr>
            <a:lvl3pPr marL="866140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3pPr>
            <a:lvl4pPr marL="1299845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4pPr>
            <a:lvl5pPr marL="1732915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5pPr>
            <a:lvl6pPr marL="2165985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6pPr>
            <a:lvl7pPr marL="2599055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7pPr>
            <a:lvl8pPr marL="3032125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8pPr>
            <a:lvl9pPr marL="3465830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76463"/>
            <a:ext cx="8226900" cy="6685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422397"/>
            <a:ext cx="3882600" cy="449914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422397"/>
            <a:ext cx="3882600" cy="449914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76463"/>
            <a:ext cx="8226900" cy="6685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354176"/>
            <a:ext cx="4006800" cy="36156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33070" indent="0">
              <a:buNone/>
              <a:defRPr sz="1895" b="1"/>
            </a:lvl2pPr>
            <a:lvl3pPr marL="866140" indent="0">
              <a:buNone/>
              <a:defRPr sz="1705" b="1"/>
            </a:lvl3pPr>
            <a:lvl4pPr marL="1299845" indent="0">
              <a:buNone/>
              <a:defRPr sz="1515" b="1"/>
            </a:lvl4pPr>
            <a:lvl5pPr marL="1732915" indent="0">
              <a:buNone/>
              <a:defRPr sz="1515" b="1"/>
            </a:lvl5pPr>
            <a:lvl6pPr marL="2165985" indent="0">
              <a:buNone/>
              <a:defRPr sz="1515" b="1"/>
            </a:lvl6pPr>
            <a:lvl7pPr marL="2599055" indent="0">
              <a:buNone/>
              <a:defRPr sz="1515" b="1"/>
            </a:lvl7pPr>
            <a:lvl8pPr marL="3032125" indent="0">
              <a:buNone/>
              <a:defRPr sz="1515" b="1"/>
            </a:lvl8pPr>
            <a:lvl9pPr marL="3465830" indent="0">
              <a:buNone/>
              <a:defRPr sz="151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756677"/>
            <a:ext cx="4006800" cy="416486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347097"/>
            <a:ext cx="4006800" cy="36156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33070" indent="0">
              <a:buNone/>
              <a:defRPr sz="1895" b="1"/>
            </a:lvl2pPr>
            <a:lvl3pPr marL="866140" indent="0">
              <a:buNone/>
              <a:defRPr sz="1705" b="1"/>
            </a:lvl3pPr>
            <a:lvl4pPr marL="1299845" indent="0">
              <a:buNone/>
              <a:defRPr sz="1515" b="1"/>
            </a:lvl4pPr>
            <a:lvl5pPr marL="1732915" indent="0">
              <a:buNone/>
              <a:defRPr sz="1515" b="1"/>
            </a:lvl5pPr>
            <a:lvl6pPr marL="2165985" indent="0">
              <a:buNone/>
              <a:defRPr sz="1515" b="1"/>
            </a:lvl6pPr>
            <a:lvl7pPr marL="2599055" indent="0">
              <a:buNone/>
              <a:defRPr sz="1515" b="1"/>
            </a:lvl7pPr>
            <a:lvl8pPr marL="3032125" indent="0">
              <a:buNone/>
              <a:defRPr sz="1515" b="1"/>
            </a:lvl8pPr>
            <a:lvl9pPr marL="3465830" indent="0">
              <a:buNone/>
              <a:defRPr sz="151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756677"/>
            <a:ext cx="4006800" cy="416486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76463"/>
            <a:ext cx="8226900" cy="6685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473562"/>
            <a:ext cx="3924808" cy="436611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1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473562"/>
            <a:ext cx="3920400" cy="436611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1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866400"/>
            <a:ext cx="783000" cy="4765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65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866400"/>
            <a:ext cx="6876900" cy="4765200"/>
          </a:xfrm>
        </p:spPr>
        <p:txBody>
          <a:bodyPr vert="eaVert" lIns="46800" tIns="46800" rIns="46800" bIns="46800"/>
          <a:lstStyle>
            <a:lvl1pPr marL="216535" indent="-216535">
              <a:spcAft>
                <a:spcPts val="1000"/>
              </a:spcAft>
              <a:defRPr spc="300"/>
            </a:lvl1pPr>
            <a:lvl2pPr marL="649605" indent="-216535">
              <a:defRPr spc="300"/>
            </a:lvl2pPr>
            <a:lvl3pPr marL="1083310" indent="-216535">
              <a:defRPr spc="300"/>
            </a:lvl3pPr>
            <a:lvl4pPr marL="1516380" indent="-216535">
              <a:defRPr spc="300"/>
            </a:lvl4pPr>
            <a:lvl5pPr marL="1949450" indent="-21653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33370"/>
            <a:ext cx="8229600" cy="519498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353606"/>
            <a:ext cx="7349400" cy="96532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68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373502"/>
            <a:ext cx="7349400" cy="44684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27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576463"/>
            <a:ext cx="8226900" cy="668561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412164"/>
            <a:ext cx="8226900" cy="450937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5982935"/>
            <a:ext cx="2025000" cy="300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5982935"/>
            <a:ext cx="2970000" cy="300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5982935"/>
            <a:ext cx="2025000" cy="300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66140" rtl="0" eaLnBrk="1" fontAlgn="auto" latinLnBrk="0" hangingPunct="1">
        <a:lnSpc>
          <a:spcPct val="100000"/>
        </a:lnSpc>
        <a:spcBef>
          <a:spcPct val="0"/>
        </a:spcBef>
        <a:buNone/>
        <a:defRPr sz="341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16535" indent="-216535" algn="l" defTabSz="8661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7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49605" indent="-216535" algn="l" defTabSz="86614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525270" algn="l"/>
          <a:tab pos="1525270" algn="l"/>
          <a:tab pos="1525270" algn="l"/>
          <a:tab pos="1525270" algn="l"/>
        </a:tabLst>
        <a:defRPr sz="15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083310" indent="-216535" algn="l" defTabSz="86614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5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516380" indent="-216535" algn="l" defTabSz="86614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949450" indent="-216535" algn="l" defTabSz="86614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382520" indent="-216535" algn="l" defTabSz="86614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5590" indent="-216535" algn="l" defTabSz="86614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49295" indent="-216535" algn="l" defTabSz="86614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2365" indent="-216535" algn="l" defTabSz="86614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070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140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299845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2915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5985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599055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2125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5830" algn="l" defTabSz="866140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fig4_productivity_measur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64979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573715" y="3513372"/>
                <a:ext cx="2261235" cy="3429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15" i="1">
                          <a:latin typeface="Cambria Math" panose="02040503050406030204" charset="0"/>
                          <a:ea typeface="Microsoft JhengHei" panose="020B0604030504040204" charset="-12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515" i="1">
                              <a:latin typeface="Cambria Math" panose="02040503050406030204" charset="0"/>
                              <a:ea typeface="Microsoft JhengHei" panose="020B0604030504040204" charset="-12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ea typeface="Microsoft JhengHei" panose="020B0604030504040204" charset="-12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515" i="1">
                              <a:latin typeface="Cambria Math" panose="02040503050406030204" charset="0"/>
                              <a:ea typeface="Microsoft JhengHei" panose="020B0604030504040204" charset="-120"/>
                              <a:cs typeface="Cambria Math" panose="02040503050406030204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1515" i="1">
                          <a:latin typeface="Cambria Math" panose="02040503050406030204" charset="0"/>
                          <a:ea typeface="Microsoft JhengHei" panose="020B0604030504040204" charset="-120"/>
                          <a:cs typeface="Cambria Math" panose="02040503050406030204" charset="0"/>
                        </a:rPr>
                        <m:t>𝑙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 </m:t>
                      </m:r>
                      <m:sSub>
                        <m:sSubPr>
                          <m:ctrlPr>
                            <a:rPr lang="en-US" altLang="zh-CN" sz="1515" i="1">
                              <a:latin typeface="Cambria Math" panose="02040503050406030204" charset="0"/>
                              <a:ea typeface="Microsoft JhengHei" panose="020B0604030504040204" charset="-12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𝛾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515" i="1">
                                  <a:latin typeface="Cambria Math" panose="02040503050406030204" charset="0"/>
                                  <a:ea typeface="Microsoft JhengHei" panose="020B0604030504040204" charset="-12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15" i="1">
                                  <a:latin typeface="Cambria Math" panose="02040503050406030204" charset="0"/>
                                  <a:ea typeface="Microsoft JhengHei" panose="020B0604030504040204" charset="-120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1515" i="1">
                                  <a:latin typeface="Cambria Math" panose="02040503050406030204" charset="0"/>
                                  <a:ea typeface="Microsoft JhengHei" panose="020B0604030504040204" charset="-120"/>
                                  <a:cs typeface="Cambria Math" panose="02040503050406030204" charset="0"/>
                                </a:rPr>
                                <m:t>𝑝</m:t>
                              </m:r>
                            </m:sub>
                          </m:sSub>
                        </m:sub>
                      </m:sSub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24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%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</m:oMath>
                  </m:oMathPara>
                </a14:m>
                <a:endParaRPr lang="zh-CN" altLang="en-US" sz="1515">
                  <a:latin typeface="Microsoft JhengHei" panose="020B0604030504040204" charset="-120"/>
                  <a:ea typeface="Microsoft JhengHei" panose="020B0604030504040204" charset="-120"/>
                  <a:cs typeface="Microsoft JhengHei" panose="020B0604030504040204" charset="-12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715" y="3513372"/>
                <a:ext cx="2261235" cy="342900"/>
              </a:xfrm>
              <a:prstGeom prst="rect">
                <a:avLst/>
              </a:prstGeom>
              <a:blipFill rotWithShape="1">
                <a:blip r:embed="rId2"/>
                <a:stretch>
                  <a:fillRect l="-14" t="-161" r="14" b="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064193" y="4720320"/>
                <a:ext cx="2700020" cy="3441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15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𝛼</m:t>
                          </m:r>
                        </m:sup>
                      </m:sSup>
                      <m:sSup>
                        <m:sSupPr>
                          <m:ctrlP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</m:t>
                          </m:r>
                        </m:e>
                        <m:sup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𝛼</m:t>
                          </m:r>
                        </m:sup>
                      </m:sSup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→</m:t>
                      </m:r>
                      <m:sSub>
                        <m:sSubPr>
                          <m:ctrlP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𝛾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51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1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151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71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% </m:t>
                      </m:r>
                    </m:oMath>
                  </m:oMathPara>
                </a14:m>
                <a:endParaRPr lang="zh-CN" altLang="en-US" sz="1515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193" y="4720320"/>
                <a:ext cx="2700020" cy="344170"/>
              </a:xfrm>
              <a:prstGeom prst="rect">
                <a:avLst/>
              </a:prstGeom>
              <a:blipFill rotWithShape="1">
                <a:blip r:embed="rId3"/>
                <a:stretch>
                  <a:fillRect l="-16" t="-106" r="16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959443" y="1983946"/>
                <a:ext cx="3330575" cy="3568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15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𝑒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151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1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51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𝑠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151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1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51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𝑠</m:t>
                              </m:r>
                            </m:sub>
                          </m:sSub>
                        </m:sup>
                      </m:sSubSup>
                      <m:sSup>
                        <m:sSupPr>
                          <m:ctrlP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</m:t>
                          </m:r>
                        </m:e>
                        <m:sup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51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1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51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51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1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51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𝑠</m:t>
                              </m:r>
                            </m:sub>
                          </m:sSub>
                        </m:sup>
                      </m:sSup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→</m:t>
                      </m:r>
                      <m:sSub>
                        <m:sSubPr>
                          <m:ctrlP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𝛾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51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1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151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68</m:t>
                      </m:r>
                      <m:r>
                        <a:rPr lang="en-US" altLang="zh-CN" sz="151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% </m:t>
                      </m:r>
                    </m:oMath>
                  </m:oMathPara>
                </a14:m>
                <a:endParaRPr lang="zh-CN" altLang="en-US" sz="1515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443" y="1983946"/>
                <a:ext cx="3330575" cy="356870"/>
              </a:xfrm>
              <a:prstGeom prst="rect">
                <a:avLst/>
              </a:prstGeom>
              <a:blipFill rotWithShape="1">
                <a:blip r:embed="rId4"/>
                <a:stretch>
                  <a:fillRect l="-7" t="-58" r="7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767290" y="1215314"/>
                <a:ext cx="1156970" cy="3244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151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sub>
                      </m:sSub>
                      <m:r>
                        <a:rPr lang="en-US" altLang="zh-CN" sz="1515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515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1515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1515" i="1">
                          <a:latin typeface="Cambria Math" panose="02040503050406030204" charset="0"/>
                          <a:cs typeface="Cambria Math" panose="02040503050406030204" charset="0"/>
                        </a:rPr>
                        <m:t>39</m:t>
                      </m:r>
                      <m:r>
                        <a:rPr lang="en-US" altLang="zh-CN" sz="1515" i="1">
                          <a:latin typeface="Cambria Math" panose="02040503050406030204" charset="0"/>
                          <a:cs typeface="Cambria Math" panose="02040503050406030204" charset="0"/>
                        </a:rPr>
                        <m:t>%</m:t>
                      </m:r>
                    </m:oMath>
                  </m:oMathPara>
                </a14:m>
                <a:endParaRPr lang="zh-CN" altLang="en-US" sz="1515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290" y="1215314"/>
                <a:ext cx="1156970" cy="324485"/>
              </a:xfrm>
              <a:prstGeom prst="rect">
                <a:avLst/>
              </a:prstGeom>
              <a:blipFill rotWithShape="1">
                <a:blip r:embed="rId5"/>
                <a:stretch>
                  <a:fillRect l="-7" t="-172" r="7" b="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WPS 演示</Application>
  <PresentationFormat>宽屏</PresentationFormat>
  <Paragraphs>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Consolas</vt:lpstr>
      <vt:lpstr>Times New Roman</vt:lpstr>
      <vt:lpstr>MS Mincho</vt:lpstr>
      <vt:lpstr>ESRI AMFM Electric</vt:lpstr>
      <vt:lpstr>Calisto MT</vt:lpstr>
      <vt:lpstr>Candara</vt:lpstr>
      <vt:lpstr>Cascadia Code SemiLight</vt:lpstr>
      <vt:lpstr>Cascadia Mono SemiLight</vt:lpstr>
      <vt:lpstr>Consolas</vt:lpstr>
      <vt:lpstr>Dubai Medium</vt:lpstr>
      <vt:lpstr>Cascadia Mono ExtraLight</vt:lpstr>
      <vt:lpstr>Cascadia Code ExtraLight</vt:lpstr>
      <vt:lpstr>Californian FB</vt:lpstr>
      <vt:lpstr>Bookman Old Style</vt:lpstr>
      <vt:lpstr>Berlin Sans FB</vt:lpstr>
      <vt:lpstr>Bahnschrift SemiBold SemiCondensed</vt:lpstr>
      <vt:lpstr>Arial Narrow</vt:lpstr>
      <vt:lpstr>Microsoft JhengHei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陈致远</cp:lastModifiedBy>
  <cp:revision>160</cp:revision>
  <dcterms:created xsi:type="dcterms:W3CDTF">2019-06-19T02:08:00Z</dcterms:created>
  <dcterms:modified xsi:type="dcterms:W3CDTF">2026-06-07T10:17:16Z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5583B77D83D747FF9CFDCE119F71FD76_13</vt:lpwstr>
  </property>
</Properties>
</file>